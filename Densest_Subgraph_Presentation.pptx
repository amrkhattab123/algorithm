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C7B7"/>
                </a:solidFill>
                <a:latin typeface="Calibri"/>
              </a:rPr>
              <a:t>CSAI 330 — DESIGN AND ANALYSIS OF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4F6F5"/>
                </a:solidFill>
                <a:latin typeface="Georgia"/>
              </a:rPr>
              <a:t>Construction and Visualization of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4F6F5"/>
                </a:solidFill>
                <a:latin typeface="Georgia"/>
              </a:rPr>
              <a:t>Densest Subgraphs in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D6E7E1"/>
                </a:solidFill>
                <a:latin typeface="Calibri"/>
              </a:rPr>
              <a:t>Network category:  Collaboration Networks  (co-authorship graphs)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709160"/>
            <a:ext cx="3840480" cy="0"/>
          </a:xfrm>
          <a:prstGeom prst="line">
            <a:avLst/>
          </a:prstGeom>
          <a:ln w="15875">
            <a:solidFill>
              <a:srgbClr val="2A4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920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9CEC7"/>
                </a:solidFill>
                <a:latin typeface="Calibri"/>
              </a:rPr>
              <a:t>Charikar's Greedy Peeling  ·  Greedy++  ·  Goldberg's Exact Max-Flow  ·  Exact Triangle-Density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C7B7"/>
                </a:solidFill>
                <a:latin typeface="Consolas"/>
              </a:rPr>
              <a:t>github.com/Amrkhattab123/algorithm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Problem definition — the Densest Subgraph Problem and why it matters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Graph modelling — Collaboration Networks and how the raw data becomes a graph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The four algorithms — two greedy-peeling, two exact max-flow-based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Datasets — five real networks, 379 to 317,080 nodes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Methodology — how a shrinking peel / a shrinking max-flow cut becomes a growth video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Results — runtime growth, densities found, and cross-algorithm consistency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Simulation demos — the incremental construction videos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12181A"/>
                </a:solidFill>
                <a:latin typeface="Calibri"/>
              </a:rPr>
              <a:t>—  Limitations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The Densest Subgraph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2181A"/>
                </a:solidFill>
                <a:latin typeface="Calibri"/>
              </a:rPr>
              <a:t>Given a graph G = (V, E), find the vertex subset S ⊆ V maximizing: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2240280"/>
            <a:ext cx="7315200" cy="1051560"/>
          </a:xfrm>
          <a:prstGeom prst="roundRect">
            <a:avLst>
              <a:gd name="adj" fmla="val 12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3317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100" b="1" i="0">
                <a:solidFill>
                  <a:srgbClr val="1F6F5C"/>
                </a:solidFill>
                <a:latin typeface="Consolas"/>
              </a:rPr>
              <a:t>density(S) = |E(S)| / |S|          (edge-density)</a:t>
            </a:r>
          </a:p>
          <a:p>
            <a:pPr algn="ctr">
              <a:lnSpc>
                <a:spcPct val="130000"/>
              </a:lnSpc>
            </a:pPr>
            <a:r>
              <a:rPr sz="2100" b="1" i="0">
                <a:solidFill>
                  <a:srgbClr val="1F6F5C"/>
                </a:solidFill>
                <a:latin typeface="Consolas"/>
              </a:rPr>
              <a:t>density△(S) = |Δ(S)| / |S|       (triangle-density)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7899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Why it's hard:  </a:t>
            </a:r>
            <a:r>
              <a:rPr sz="1700">
                <a:solidFill>
                  <a:srgbClr val="12181A"/>
                </a:solidFill>
                <a:latin typeface="Calibri"/>
              </a:rPr>
              <a:t>checking all 2^|V| subsets is infeasible; exact answers need a max-flow reduction, not brute force.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Why it matters here:  </a:t>
            </a:r>
            <a:r>
              <a:rPr sz="1700">
                <a:solidFill>
                  <a:srgbClr val="12181A"/>
                </a:solidFill>
                <a:latin typeface="Calibri"/>
              </a:rPr>
              <a:t>the densest subgraph of a co-authorship network is its most tightly-knit research community — collaborating far more with each other than with the rest of the field.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Other applications:  </a:t>
            </a:r>
            <a:r>
              <a:rPr sz="1700">
                <a:solidFill>
                  <a:srgbClr val="12181A"/>
                </a:solidFill>
                <a:latin typeface="Calibri"/>
              </a:rPr>
              <a:t>fraud/anomaly detection, web/social community detection, network summarization, recommendation seeding.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GRAPH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Category: Collaboration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7607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Nodes = authors,  </a:t>
            </a:r>
            <a:r>
              <a:rPr sz="1700">
                <a:solidFill>
                  <a:srgbClr val="12181A"/>
                </a:solidFill>
                <a:latin typeface="Calibri"/>
              </a:rPr>
              <a:t>edges = co-authorship (two researchers who published together).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Edge weight  </a:t>
            </a:r>
            <a:r>
              <a:rPr sz="1700">
                <a:solidFill>
                  <a:srgbClr val="12181A"/>
                </a:solidFill>
                <a:latin typeface="Calibri"/>
              </a:rPr>
              <a:t>= number of shared papers (defaults to 1.0 for unweighted “pattern” files).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Source:  </a:t>
            </a:r>
            <a:r>
              <a:rPr sz="1700">
                <a:solidFill>
                  <a:srgbClr val="12181A"/>
                </a:solidFill>
                <a:latin typeface="Calibri"/>
              </a:rPr>
              <a:t>Network Repository (networkrepository.com), .mtx files mirrored on nrvis.com.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Applications:  </a:t>
            </a:r>
            <a:r>
              <a:rPr sz="1700">
                <a:solidFill>
                  <a:srgbClr val="12181A"/>
                </a:solidFill>
                <a:latin typeface="Calibri"/>
              </a:rPr>
              <a:t>surfacing active research clusters, flagging citation rings / coordinated authorship, collaboration recommendation, compact network summarization.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37360"/>
            <a:ext cx="48463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95160" y="1920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5C"/>
                </a:solidFill>
                <a:latin typeface="Calibri"/>
              </a:rPr>
              <a:t>.mtx loader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2377440"/>
            <a:ext cx="43891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%%MatrixMarket banner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  ↓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rows cols nnz    (dimension line — may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                  itself be “%”-prefixed)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  ↓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u   v   [w]      (edge; missing w → 1.0)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  ↓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networkx.Graph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(weighted, undirected,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12181A"/>
                </a:solidFill>
                <a:latin typeface="Consolas"/>
              </a:rPr>
              <a:t> self-loops dropped)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GRAPH MODELLING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Five Datasets — Small to Very-Large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704088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554480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Nodes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Edges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ca-netscience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379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914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ca-CSphd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1,882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1,740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small-medium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ca-GrQc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4,158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13,422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ca-HepTh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11,204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117,619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ca-dblp-2012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317,080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2181A"/>
                          </a:solidFill>
                          <a:latin typeface="Consolas"/>
                        </a:rPr>
                        <a:t>1,049,866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2181A"/>
                          </a:solidFill>
                          <a:latin typeface="Calibri"/>
                        </a:rPr>
                        <a:t>very-large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874519"/>
            <a:ext cx="3931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All five satisfy the assignment's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size-spread rule and the ≥ half-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team-size dataset count.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Sizes shown are the real, verified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counts from the files actually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hosted today — three differ from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the course PDF's illustrative table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4B5A55"/>
                </a:solidFill>
                <a:latin typeface="Calibri"/>
              </a:rPr>
              <a:t>(documented in README.md).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ALGORITHMS — GREEDY PEELING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Charikar's Algorithm  &amp;  Greedy++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82296" cy="420624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6F5C"/>
                </a:solidFill>
                <a:latin typeface="Calibri"/>
              </a:rPr>
              <a:t>CHARIKAR · 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81A"/>
                </a:solidFill>
                <a:latin typeface="Georgia"/>
              </a:rPr>
              <a:t>Greedy Peeling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9775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6742A"/>
                </a:solidFill>
                <a:latin typeface="Consolas"/>
              </a:rPr>
              <a:t>O((n+m) log n)   ·   1/2-approximation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Repeatedly removes the currently lowest-weighted-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degree vertex, recording density after each removal.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Returns the densest subgraph seen anywhere in that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shrinking sequence.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On ca-netscience / ca-GrQc / ca-HepTh, this single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pass already finds the exact optimum — verified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against Goldberg's exact algorithm.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737360"/>
            <a:ext cx="54406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737360"/>
            <a:ext cx="82296" cy="420624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938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6F5C"/>
                </a:solidFill>
                <a:latin typeface="Calibri"/>
              </a:rPr>
              <a:t>BOOB ET AL. · WWW 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40864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81A"/>
                </a:solidFill>
                <a:latin typeface="Georgia"/>
              </a:rPr>
              <a:t>Greedy++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5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6742A"/>
                </a:solidFill>
                <a:latin typeface="Consolas"/>
              </a:rPr>
              <a:t>O(R · (n+m) log n)  for R 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27248"/>
            <a:ext cx="4983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Repeats Charikar's peel across many rounds, but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ranks vertices by degree PLUS an accumulated “load”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carried over from every earlier round's peel — a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discretized multiplicative-weights scheme.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On ca-dblp-2012, 13 rounds close the small gap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Charikar's single pass leaves (56.500 → 56.565),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matching Goldberg's exact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ALGORITHMS — EXACT, MAX-FLOW-BASED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Goldberg's Algorithm  &amp;  Exact Triangle-Density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82296" cy="420624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6F5C"/>
                </a:solidFill>
                <a:latin typeface="Calibri"/>
              </a:rPr>
              <a:t>GOLDBERG · 1984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81A"/>
                </a:solidFill>
                <a:latin typeface="Georgia"/>
              </a:rPr>
              <a:t>Exact Max-Flow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79775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6742A"/>
                </a:solidFill>
                <a:latin typeface="Consolas"/>
              </a:rPr>
              <a:t>O(log(1/ε) · MaxFlow(n, m))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47548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Binary searches a candidate density g. Builds a flow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network: s→v capacity m, v→t capacity m+2g−deg(v),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u↔v capacity w(u,v). A subgraph of density ≥ g exists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iff the min-cut's source side is non-trivial.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Converges to the EXACT maximum density — the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ground truth all our correctness tests rely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737360"/>
            <a:ext cx="54406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737360"/>
            <a:ext cx="82296" cy="4206240"/>
          </a:xfrm>
          <a:prstGeom prst="rect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938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F6F5C"/>
                </a:solidFill>
                <a:latin typeface="Calibri"/>
              </a:rPr>
              <a:t>KHULLER &amp; SAHA · 2009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40864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81A"/>
                </a:solidFill>
                <a:latin typeface="Georgia"/>
              </a:rPr>
              <a:t>Exact Triangle-Density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5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6742A"/>
                </a:solidFill>
                <a:latin typeface="Consolas"/>
              </a:rPr>
              <a:t>O(log(1/ε) · MaxFlow(n+T, m))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27248"/>
            <a:ext cx="49834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Generalizes Goldberg's reduction to a 3-uniform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hypergraph term: one auxiliary flow node per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triangle Δ (s→Δ capacity 1, Δ→{u,v,w} capacity BIG),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v→t capacity g per vertex.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Finds a smaller, more clique-like core than edge-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density — confirmed the two objectives genuinely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optimize for different structures.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Making a Shrinking Process Look Like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1">
                <a:solidFill>
                  <a:srgbClr val="4B5A55"/>
                </a:solidFill>
                <a:latin typeface="Calibri"/>
              </a:rPr>
              <a:t>Peeling removes vertices — but the videos must show the densest subgraph being GROWN.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3317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63624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19656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75688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63624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19656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75688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64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606040"/>
            <a:ext cx="731520" cy="0"/>
          </a:xfrm>
          <a:prstGeom prst="line">
            <a:avLst/>
          </a:prstGeom>
          <a:ln w="19050">
            <a:solidFill>
              <a:srgbClr val="4B5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31920" y="23317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06824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2856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18888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06824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2856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264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2606040"/>
            <a:ext cx="731520" cy="0"/>
          </a:xfrm>
          <a:prstGeom prst="line">
            <a:avLst/>
          </a:prstGeom>
          <a:ln w="19050">
            <a:solidFill>
              <a:srgbClr val="4B5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75120" y="23317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50024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6056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2660904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50024" y="2916936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264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2606040"/>
            <a:ext cx="731520" cy="0"/>
          </a:xfrm>
          <a:prstGeom prst="line">
            <a:avLst/>
          </a:prstGeom>
          <a:ln w="19050">
            <a:solidFill>
              <a:srgbClr val="4B5A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18320" y="23317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93224" y="2660904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49256" y="2660904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05288" y="2660904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326440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19659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4B5A55"/>
                </a:solidFill>
                <a:latin typeface="Calibri"/>
              </a:rPr>
              <a:t>peeling order (algorithm removes lowest-degree vertex, left → right)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3977639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931920" y="3977639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75120" y="3977639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18320" y="3977639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DCEEE7"/>
          </a:solidFill>
          <a:ln w="1905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H="1">
            <a:off x="3154680" y="4892039"/>
            <a:ext cx="731520" cy="0"/>
          </a:xfrm>
          <a:prstGeom prst="line">
            <a:avLst/>
          </a:prstGeom>
          <a:ln w="28575">
            <a:solidFill>
              <a:srgbClr val="1F6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897880" y="4892039"/>
            <a:ext cx="731520" cy="0"/>
          </a:xfrm>
          <a:prstGeom prst="line">
            <a:avLst/>
          </a:prstGeom>
          <a:ln w="28575">
            <a:solidFill>
              <a:srgbClr val="1F6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641080" y="4892039"/>
            <a:ext cx="731520" cy="0"/>
          </a:xfrm>
          <a:prstGeom prst="line">
            <a:avLst/>
          </a:prstGeom>
          <a:ln w="28575">
            <a:solidFill>
              <a:srgbClr val="1F6F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563624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19656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075688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63624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19656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075688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49103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|S|=6</a:t>
            </a:r>
          </a:p>
        </p:txBody>
      </p:sp>
      <p:sp>
        <p:nvSpPr>
          <p:cNvPr id="49" name="Oval 48"/>
          <p:cNvSpPr/>
          <p:nvPr/>
        </p:nvSpPr>
        <p:spPr>
          <a:xfrm>
            <a:off x="4306824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562856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818888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06824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562856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49103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|S|=5</a:t>
            </a:r>
          </a:p>
        </p:txBody>
      </p:sp>
      <p:sp>
        <p:nvSpPr>
          <p:cNvPr id="55" name="Oval 54"/>
          <p:cNvSpPr/>
          <p:nvPr/>
        </p:nvSpPr>
        <p:spPr>
          <a:xfrm>
            <a:off x="7050024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06056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62088" y="4306823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050024" y="4562855"/>
            <a:ext cx="146304" cy="146304"/>
          </a:xfrm>
          <a:prstGeom prst="ellipse">
            <a:avLst/>
          </a:prstGeom>
          <a:solidFill>
            <a:srgbClr val="1F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9103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|S|=4</a:t>
            </a:r>
          </a:p>
        </p:txBody>
      </p:sp>
      <p:sp>
        <p:nvSpPr>
          <p:cNvPr id="60" name="Oval 59"/>
          <p:cNvSpPr/>
          <p:nvPr/>
        </p:nvSpPr>
        <p:spPr>
          <a:xfrm>
            <a:off x="9793224" y="4306823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49256" y="4306823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05288" y="4306823"/>
            <a:ext cx="146304" cy="146304"/>
          </a:xfrm>
          <a:prstGeom prst="ellipse">
            <a:avLst/>
          </a:prstGeom>
          <a:solidFill>
            <a:srgbClr val="B67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491032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B5A55"/>
                </a:solidFill>
                <a:latin typeface="Consolas"/>
              </a:rPr>
              <a:t>|S|=3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5257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6F5C"/>
                </a:solidFill>
                <a:latin typeface="Calibri"/>
              </a:rPr>
              <a:t>video replay order (frames play right → left through this same sequence: starts small, GROWS to S*)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97763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6742A"/>
                </a:solidFill>
                <a:latin typeface="Calibri"/>
              </a:rPr>
              <a:t>S* (amber)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Sampling Policy — Documented, Never Silent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12181A"/>
                </a:solidFill>
                <a:latin typeface="Calibri"/>
              </a:rPr>
              <a:t>The exact algorithms don't scale for free — two real obstacles, both caught empirically: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03520" cy="1920240"/>
          </a:xfrm>
          <a:prstGeom prst="roundRect">
            <a:avLst>
              <a:gd name="adj" fmla="val 6000"/>
            </a:avLst>
          </a:prstGeom>
          <a:solidFill>
            <a:srgbClr val="F3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6742A"/>
                </a:solidFill>
                <a:latin typeface="Georgia"/>
              </a:rPr>
              <a:t>3.36 MILLION triangles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ca-HepTh's full graph has 3.36M triangles — the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triangle-density flow network would need millions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of auxiliary nodes. Confirmed intractable; solved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with a documented, reproducible BFS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4028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3E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6742A"/>
                </a:solidFill>
                <a:latin typeface="Georgia"/>
              </a:rPr>
              <a:t>11 GB and climbing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An early peeling implementation copied the full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remaining-node set at every step — O(n²) memory.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Caught mid-run on ca-dblp-2012 before it crashed;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2181A"/>
                </a:solidFill>
                <a:latin typeface="Calibri"/>
              </a:rPr>
              <a:t>fixed to an O(1)-per-step trace + lazy reconstruction.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5A55"/>
                </a:solidFill>
                <a:latin typeface="Calibri"/>
              </a:rPr>
              <a:t>Resulting policy: Charikar / Greedy++ always run at full size, including the 317K-node ca-dblp-2012.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5A55"/>
                </a:solidFill>
                <a:latin typeface="Calibri"/>
              </a:rPr>
              <a:t>Goldberg runs at full size on the 4 smaller datasets, BFS-sampled (~10,000 nodes) only on ca-dblp-2012.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5A55"/>
                </a:solidFill>
                <a:latin typeface="Calibri"/>
              </a:rPr>
              <a:t>Triangle-density runs at full size only where triangle counts are small (ca-netscience, ca-CSphd); every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5A55"/>
                </a:solidFill>
                <a:latin typeface="Calibri"/>
              </a:rPr>
              <a:t>other dataset uses a BFS sample sized to keep the triangle count in the low thousands. Every sampled row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5A55"/>
                </a:solidFill>
                <a:latin typeface="Calibri"/>
              </a:rPr>
              <a:t>is flagged in the results table — nothing is substituted without saying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2181A"/>
                </a:solidFill>
                <a:latin typeface="Georgia"/>
              </a:rPr>
              <a:t>Every (Dataset × Algorithm)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45920"/>
          <a:ext cx="9921240" cy="4174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00200"/>
                <a:gridCol w="1417320"/>
                <a:gridCol w="1417320"/>
                <a:gridCol w="1417320"/>
                <a:gridCol w="960120"/>
                <a:gridCol w="1417320"/>
              </a:tblGrid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Nodes run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Runtime (s)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Density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|S*|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1F6F5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ca-netscience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Charikar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379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0.014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4.000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ca-CSphd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Charikar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1,882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0.054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1.250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ca-CSphd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Greedy++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1,882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0.683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1.500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ca-GrQc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Goldberg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4,158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26.057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22.391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ca-GrQc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TriangleDensity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27.297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77.667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sampled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ca-HepTh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Goldberg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11,204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227.150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119.000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239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ca-HepTh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TriangleDensity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27.486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100.000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sampled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ca-dblp-2012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Charikar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317,080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24.231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56.500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114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ca-dblp-2012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Greedy++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317,080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341.364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56.565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ca-dblp-2012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Goldberg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210.109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56.565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2181A"/>
                          </a:solidFill>
                          <a:latin typeface="Consolas"/>
                        </a:rPr>
                        <a:t>115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2181A"/>
                          </a:solidFill>
                          <a:latin typeface="Calibri"/>
                        </a:rPr>
                        <a:t>sampled</a:t>
                      </a:r>
                    </a:p>
                  </a:txBody>
                  <a:tcPr anchor="ctr" marL="73152" marR="73152">
                    <a:solidFill>
                      <a:srgbClr val="DCEE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B5A55"/>
                </a:solidFill>
                <a:latin typeface="Calibri"/>
              </a:rPr>
              <a:t>Full 20-row table (all 4 algorithms × all 5 datasets): figures/benchmark_results.csv in the repo.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181A"/>
                </a:solidFill>
                <a:latin typeface="Georgia"/>
              </a:rPr>
              <a:t>Runtime Growth — All Four Algorithms, One Legend</a:t>
            </a:r>
          </a:p>
        </p:txBody>
      </p:sp>
      <p:pic>
        <p:nvPicPr>
          <p:cNvPr id="4" name="Picture 3" descr="runtime_vs_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212080" cy="3474720"/>
          </a:xfrm>
          <a:prstGeom prst="rect">
            <a:avLst/>
          </a:prstGeom>
        </p:spPr>
      </p:pic>
      <p:pic>
        <p:nvPicPr>
          <p:cNvPr id="5" name="Picture 4" descr="runtime_vs_ed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91640"/>
            <a:ext cx="52120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Log-log scale across a 379-to-317,080-node size range. Charikar/Greedy++ scale near-linearly; the exact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max-flow algorithms grow faster, motivating the documented sampling policy at very-large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Greedy++ Convergence — ca-dblp-2012</a:t>
            </a:r>
          </a:p>
        </p:txBody>
      </p:sp>
      <p:pic>
        <p:nvPicPr>
          <p:cNvPr id="4" name="Picture 3" descr="greedy_pp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554480"/>
            <a:ext cx="58521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7150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500">
                <a:solidFill>
                  <a:srgbClr val="12181A"/>
                </a:solidFill>
                <a:latin typeface="Calibri"/>
              </a:rPr>
              <a:t>—  13 rounds: oscillates between 56.500 and 56.565 through round 6, then stabilizes at Goldberg's exact 56.565 from round 7 onward.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SIMULATION DEMOS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181A"/>
                </a:solidFill>
                <a:latin typeface="Georgia"/>
              </a:rPr>
              <a:t>Incremental Construction — ca-GrQc, Goldberg's Algorithm</a:t>
            </a:r>
          </a:p>
        </p:txBody>
      </p:sp>
      <p:pic>
        <p:nvPicPr>
          <p:cNvPr id="4" name="ca-GrQc_Goldber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37560" y="155448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The general-relativity co-authorship network's densest subgraph: 46 authors, density 22.39 (~1,030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mutual co-authorship edges) — found identically by Charikar, Greedy++, and Goldberg's exact algorithm.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B5A55"/>
                </a:solidFill>
                <a:latin typeface="Calibri"/>
              </a:rPr>
              <a:t>All 20 videos (5 datasets × 4 algorithms) are in videos/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7899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Goldberg never loses:  </a:t>
            </a:r>
            <a:r>
              <a:rPr sz="1700">
                <a:solidFill>
                  <a:srgbClr val="12181A"/>
                </a:solidFill>
                <a:latin typeface="Calibri"/>
              </a:rPr>
              <a:t>on every dataset, the exact algorithm's density matches or exceeds both heuristics — the correctness cross-check the whole project rests 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Charikar is sometimes already optimal:  </a:t>
            </a:r>
            <a:r>
              <a:rPr sz="1700">
                <a:solidFill>
                  <a:srgbClr val="12181A"/>
                </a:solidFill>
                <a:latin typeface="Calibri"/>
              </a:rPr>
              <a:t>on ca-netscience, ca-GrQc, and ca-HepTh, all three edge-density algorithms land on the identical density — a single peeling pass found the true global optimum.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Sampling validated at scale:  </a:t>
            </a:r>
            <a:r>
              <a:rPr sz="1700">
                <a:solidFill>
                  <a:srgbClr val="12181A"/>
                </a:solidFill>
                <a:latin typeface="Calibri"/>
              </a:rPr>
              <a:t>on ca-dblp-2012, Goldberg's 10,000-node BFS sample recovered the exact same 115-vertex optimum that Greedy++ found on the full 317,080-node graph.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Triangle-density finds a genuinely different core:  </a:t>
            </a:r>
            <a:r>
              <a:rPr sz="1700">
                <a:solidFill>
                  <a:srgbClr val="12181A"/>
                </a:solidFill>
                <a:latin typeface="Calibri"/>
              </a:rPr>
              <a:t>on ca-CSphd, the edge-optimal set (6 vertices, density 1.5) has triangle-density only 0.667 — the two objectives measure different structure, as the theory predicts.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b="1" sz="1700">
                <a:solidFill>
                  <a:srgbClr val="1F6F5C"/>
                </a:solidFill>
                <a:latin typeface="Calibri"/>
              </a:rPr>
              <a:t>—  39/39 tests passing:  </a:t>
            </a:r>
            <a:r>
              <a:rPr sz="1700">
                <a:solidFill>
                  <a:srgbClr val="12181A"/>
                </a:solidFill>
                <a:latin typeface="Calibri"/>
              </a:rPr>
              <a:t>including exact agreement between Goldberg's algorithm and brute-force ground truth on every synthetic fixture.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5C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81A"/>
                </a:solidFill>
                <a:latin typeface="Georgia"/>
              </a:rPr>
              <a:t>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6F5C"/>
                </a:solidFill>
                <a:latin typeface="Georgi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2120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Three datasets' real, verified sizes differ from the course PDF's illustrative table (documented, not hidden).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Exact algorithms use a documented BFS sample on the largest / most triangle-dense graphs — not full-scale.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networkx's pure-Python preflow-push, not a hand-rolled Dinic's — chosen for correctness confidence over raw speed, since it also serves as ground truth for the test suite.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6F5C"/>
                </a:solidFill>
                <a:latin typeface="Georgia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0312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All 4 algorithms implemented, tested, and cross-validated against each other and against brute-force ground truth.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All 5 datasets processed, all 20 videos rendered, both required growth-curve plots produced.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50">
                <a:solidFill>
                  <a:srgbClr val="12181A"/>
                </a:solidFill>
                <a:latin typeface="Calibri"/>
              </a:rPr>
              <a:t>—  Full code, tests, notebook, videos, and this write-up are live at github.com/Amrkhattab123/algorithm.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Construction &amp; Visualization of Densest Subgraphs — Collaboration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B5A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